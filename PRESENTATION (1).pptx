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56" r:id="rId3"/>
    <p:sldId id="272" r:id="rId4"/>
    <p:sldId id="273" r:id="rId5"/>
    <p:sldId id="274" r:id="rId6"/>
    <p:sldId id="275" r:id="rId7"/>
    <p:sldId id="276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72"/>
    <p:restoredTop sz="97211"/>
  </p:normalViewPr>
  <p:slideViewPr>
    <p:cSldViewPr snapToGrid="0">
      <p:cViewPr varScale="1">
        <p:scale>
          <a:sx n="86" d="100"/>
          <a:sy n="86" d="100"/>
        </p:scale>
        <p:origin x="36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9" d="100"/>
          <a:sy n="129" d="100"/>
        </p:scale>
        <p:origin x="444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53111-5043-3648-BCF4-F06E662B128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08FAB-3095-024D-8193-0AAD6056D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88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00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10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4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31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4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49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44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08FAB-3095-024D-8193-0AAD6056D3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31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B0DA-5A50-B157-EABC-A42020488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45000-ACA9-41F5-E011-77AEEA203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8715C-C464-3271-391D-2F09CB8C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02D2A-819C-914B-BB41-8AAA276AA4A3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9C3C8-44CB-E93D-A40F-8FADE4E6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4D713-3CEE-B1F3-81F7-6117AD1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92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EC1D5-0BC0-BB0A-718D-25BF13CE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7623-B755-11FB-7A94-799B0F87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E0656-F5BB-4CCD-CB21-65ACFA80C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D3CF4-9512-AD49-A93C-AF4AFD3A65A4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540F0-7F6A-45DF-6C7C-48714A00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8479F-B2D4-6EB5-CB42-5986F9F5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5E16-6B84-18DB-B1E1-8D73453E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22BC9-BD47-8405-F8A0-00980CAF5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7D41A-E6E7-8166-C4E3-FB60C5ED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CE59C-0623-8947-A22D-A0B03E01B835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B3C54-8416-4354-2596-9A5CBBA77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108B7-E9F3-666C-3D98-78630720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52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DC13B-F598-827B-39D2-C6F98812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294A-ABA4-24AF-36B6-9AEE9623E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D401E-E2FF-EFBB-B029-02F0560D2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E0829-D8DA-E8E8-2A56-EC1639D5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9586-22AC-4544-8323-504864CDD47F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D2AA1-9204-E64B-CA8C-72EF4D99D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F287D-A32E-7A75-F521-DEB8D866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8161-7EB6-899A-C25C-86A87137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7671E-1FDD-C0F3-D9E0-D277B2D2A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B2461-DFD3-B8EC-B47F-311D1F4EC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534D6-E675-470E-0282-4F63625C4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317A1-1783-3D9C-0A75-8841CB43F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89E9E8-B56A-98BC-97B3-3C41F9D7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BC27-449B-A047-A91C-447A1BE7258B}" type="datetime1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E2AE6-1A7F-8F5A-66B6-16E9B5419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B1005-8FF8-CDA9-CD08-0EDBC80A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00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A9FFE-57FA-1F2A-6450-8760BB1A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D9DD9-CC3E-5718-5241-38F84FDA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93B4E-1886-FD48-B986-78AA20DC94D1}" type="datetime1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241C2-797B-BE6C-59C0-0C685F12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2D4CE-517B-1E44-1062-EE6CCA51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3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F9307-C3D7-F83A-612C-68D17D81E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2E3EC-C696-AE4D-8BAF-BF1624BA506D}" type="datetime1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9772D-DAA9-20D6-CBC0-C89A5BB8C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E155D-62F5-9D3C-5E05-B4D7414A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53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2C2C-3808-43C2-756A-F723F791F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D74C-2713-A04D-A5A1-AE8013BC9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3F5819-8743-68D8-C99B-4DD0512E7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4AECC-8883-03B2-08FF-A432639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6ECD-93B1-6646-A327-29B738C9A47D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06F1B-5FD7-FE5E-B525-AC44E562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CFA55-6AA0-984C-6F83-0A2B4987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5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59CC9-5D89-3E23-2E7C-2B68E683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8AB3D-B032-5A0C-D95A-30AB78BDE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E773F-C443-F389-1BDF-FEEC34ED6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A6589-A5F5-3531-66EC-66FB2BCC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38F5-70BB-7649-9EC6-C29E4C58F597}" type="datetime1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62D6E-E890-2232-3D6A-52469F61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4A513-7F9D-F68E-CC90-F8DAFFF0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9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B478-6ABB-0DC0-024C-A6BCAC25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194B57-2E54-9277-C4F6-078EED23D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2E6CB-8AB2-A483-697F-903CBE59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23FC5-D525-BD40-9AFB-C4A3FE00BE80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18C77-1F65-3437-0833-6A31EE2B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23A09-429E-F7B3-815B-554BBEBC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34F2F-53F7-0B6E-8D05-BCF37D788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3CFA5-E229-399D-0F56-4A370BED7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3D82C-5277-80BF-B409-B45FE5BC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793-4AD8-7C4C-AEDA-201AB482F65F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37151-0C6E-5EBF-24CD-F35F738E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04FE-9A88-1AF3-2220-DDDCCF05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1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1D4760-D1D7-FCEF-E90A-8E528458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3C94A-90CA-C081-06B7-69101F26E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4954D-8CC6-BE3A-4C62-ACEE0187B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4CE4D-8502-5E48-A25B-541CD1ECE2E9}" type="datetime1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A5564-D056-AD90-0EF9-564BEEFFA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20D34-DFCC-2906-DE71-A9C10EF6A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DCEBA-52A4-944B-9C0C-8A19F0A87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7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69DC92A-9FB9-C321-1C39-2C6F232C5F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4170838" y="2668780"/>
            <a:ext cx="3850324" cy="1520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F7BBD2-6C65-97F5-29FA-F750CBE2CD6A}"/>
              </a:ext>
            </a:extLst>
          </p:cNvPr>
          <p:cNvSpPr txBox="1"/>
          <p:nvPr/>
        </p:nvSpPr>
        <p:spPr>
          <a:xfrm>
            <a:off x="3275582" y="998935"/>
            <a:ext cx="5640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93" b="1" dirty="0">
                <a:latin typeface="Calibri" panose="020F0502020204030204" pitchFamily="34" charset="0"/>
                <a:cs typeface="Calibri" panose="020F0502020204030204" pitchFamily="34" charset="0"/>
              </a:rPr>
              <a:t>Movie Dialog QA Bot</a:t>
            </a:r>
          </a:p>
          <a:p>
            <a:pPr algn="ctr"/>
            <a:r>
              <a:rPr lang="en-US" sz="2093" b="1" dirty="0">
                <a:latin typeface="Calibri" panose="020F0502020204030204" pitchFamily="34" charset="0"/>
                <a:cs typeface="Calibri" panose="020F0502020204030204" pitchFamily="34" charset="0"/>
              </a:rPr>
              <a:t>Semantic Search with Grounded Evidence</a:t>
            </a:r>
          </a:p>
          <a:p>
            <a:pPr algn="ctr"/>
            <a:endParaRPr lang="en-US" sz="2093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814" dirty="0">
                <a:latin typeface="Calibri" panose="020F0502020204030204" pitchFamily="34" charset="0"/>
                <a:cs typeface="Calibri" panose="020F0502020204030204" pitchFamily="34" charset="0"/>
              </a:rPr>
              <a:t>A grounded, explainable semantic retrieval system for conversational data</a:t>
            </a:r>
          </a:p>
          <a:p>
            <a:pPr algn="ctr"/>
            <a:endParaRPr lang="en-US" sz="2093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806989-3EA7-76B1-264C-0A9A44EF1C31}"/>
              </a:ext>
            </a:extLst>
          </p:cNvPr>
          <p:cNvSpPr txBox="1"/>
          <p:nvPr/>
        </p:nvSpPr>
        <p:spPr>
          <a:xfrm>
            <a:off x="4670220" y="4758070"/>
            <a:ext cx="2851551" cy="43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33" dirty="0" err="1">
                <a:latin typeface="Calibri" panose="020F0502020204030204" pitchFamily="34" charset="0"/>
                <a:cs typeface="Calibri" panose="020F0502020204030204" pitchFamily="34" charset="0"/>
              </a:rPr>
              <a:t>Sudarsan</a:t>
            </a:r>
            <a:r>
              <a:rPr lang="en-US" sz="2233" dirty="0">
                <a:latin typeface="Calibri" panose="020F0502020204030204" pitchFamily="34" charset="0"/>
                <a:cs typeface="Calibri" panose="020F0502020204030204" pitchFamily="34" charset="0"/>
              </a:rPr>
              <a:t> Nallur Murali</a:t>
            </a:r>
          </a:p>
        </p:txBody>
      </p:sp>
    </p:spTree>
    <p:extLst>
      <p:ext uri="{BB962C8B-B14F-4D97-AF65-F5344CB8AC3E}">
        <p14:creationId xmlns:p14="http://schemas.microsoft.com/office/powerpoint/2010/main" val="3490543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4068D62-6FF2-AF07-14AD-4FB3A44CA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: Rounded Corners 43">
            <a:extLst>
              <a:ext uri="{FF2B5EF4-FFF2-40B4-BE49-F238E27FC236}">
                <a16:creationId xmlns:a16="http://schemas.microsoft.com/office/drawing/2014/main" id="{6D79611B-BF80-F0D7-B672-B7F47E11854E}"/>
              </a:ext>
            </a:extLst>
          </p:cNvPr>
          <p:cNvSpPr/>
          <p:nvPr/>
        </p:nvSpPr>
        <p:spPr>
          <a:xfrm>
            <a:off x="1467642" y="1160609"/>
            <a:ext cx="3582324" cy="4706760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E5D98D-6D67-C9B1-4F30-96335261A0A1}"/>
              </a:ext>
            </a:extLst>
          </p:cNvPr>
          <p:cNvSpPr txBox="1"/>
          <p:nvPr/>
        </p:nvSpPr>
        <p:spPr>
          <a:xfrm>
            <a:off x="2263393" y="1164947"/>
            <a:ext cx="1990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buNone/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Business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CCF2D-2EF8-8A81-DE51-1F6A18032475}"/>
              </a:ext>
            </a:extLst>
          </p:cNvPr>
          <p:cNvSpPr txBox="1"/>
          <p:nvPr/>
        </p:nvSpPr>
        <p:spPr>
          <a:xfrm>
            <a:off x="1467642" y="2774097"/>
            <a:ext cx="358232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/>
              <a:t>Users want to ask natural language questions like:</a:t>
            </a:r>
          </a:p>
          <a:p>
            <a:pPr algn="ctr"/>
            <a:endParaRPr lang="en-US" sz="1700" dirty="0"/>
          </a:p>
          <a:p>
            <a:pPr algn="ctr"/>
            <a:r>
              <a:rPr lang="en-US" sz="1700" dirty="0"/>
              <a:t>“who says we’re running out of time?”</a:t>
            </a:r>
          </a:p>
          <a:p>
            <a:pPr algn="ctr"/>
            <a:r>
              <a:rPr lang="en-US" sz="1700" dirty="0"/>
              <a:t>“dialog about artificial intelligence”</a:t>
            </a:r>
          </a:p>
          <a:p>
            <a:pPr algn="ctr"/>
            <a:endParaRPr lang="en-US" sz="17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2" name="Rectangle: Rounded Corners 43">
            <a:extLst>
              <a:ext uri="{FF2B5EF4-FFF2-40B4-BE49-F238E27FC236}">
                <a16:creationId xmlns:a16="http://schemas.microsoft.com/office/drawing/2014/main" id="{0430ADE0-096F-44F0-B975-ABAACB3BE460}"/>
              </a:ext>
            </a:extLst>
          </p:cNvPr>
          <p:cNvSpPr/>
          <p:nvPr/>
        </p:nvSpPr>
        <p:spPr>
          <a:xfrm>
            <a:off x="7142030" y="1160609"/>
            <a:ext cx="3582324" cy="4706760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1B535F-58EC-8831-E58F-722C8A6A32CC}"/>
              </a:ext>
            </a:extLst>
          </p:cNvPr>
          <p:cNvSpPr txBox="1"/>
          <p:nvPr/>
        </p:nvSpPr>
        <p:spPr>
          <a:xfrm>
            <a:off x="7937682" y="1164947"/>
            <a:ext cx="1990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32E658-5FF6-2A1E-A7EE-6D0B1F6E02C5}"/>
              </a:ext>
            </a:extLst>
          </p:cNvPr>
          <p:cNvSpPr txBox="1"/>
          <p:nvPr/>
        </p:nvSpPr>
        <p:spPr>
          <a:xfrm>
            <a:off x="7142030" y="2774097"/>
            <a:ext cx="3582324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700" dirty="0"/>
              <a:t>Build a searchable, deployable prototype that returns </a:t>
            </a:r>
            <a:r>
              <a:rPr lang="en-US" sz="1700" b="1" dirty="0"/>
              <a:t>verifiable dialog lines</a:t>
            </a:r>
            <a:r>
              <a:rPr lang="en-US" sz="1700" dirty="0"/>
              <a:t> with metadata.</a:t>
            </a:r>
          </a:p>
          <a:p>
            <a:pPr algn="ctr"/>
            <a:endParaRPr lang="en-US" sz="17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700" dirty="0"/>
              <a:t>We need results that are Relevant, Fast and Grounded</a:t>
            </a:r>
          </a:p>
          <a:p>
            <a:pPr algn="ctr"/>
            <a:endParaRPr lang="en-US" sz="17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58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This Approach?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D62A81-43D6-737E-AAAD-85BB8161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44298EF-B06F-9A94-21D0-EB0A727D9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734778"/>
              </p:ext>
            </p:extLst>
          </p:nvPr>
        </p:nvGraphicFramePr>
        <p:xfrm>
          <a:off x="482600" y="1013381"/>
          <a:ext cx="10957064" cy="451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9266">
                  <a:extLst>
                    <a:ext uri="{9D8B030D-6E8A-4147-A177-3AD203B41FA5}">
                      <a16:colId xmlns:a16="http://schemas.microsoft.com/office/drawing/2014/main" val="2498796080"/>
                    </a:ext>
                  </a:extLst>
                </a:gridCol>
                <a:gridCol w="2739266">
                  <a:extLst>
                    <a:ext uri="{9D8B030D-6E8A-4147-A177-3AD203B41FA5}">
                      <a16:colId xmlns:a16="http://schemas.microsoft.com/office/drawing/2014/main" val="1585270646"/>
                    </a:ext>
                  </a:extLst>
                </a:gridCol>
                <a:gridCol w="2739266">
                  <a:extLst>
                    <a:ext uri="{9D8B030D-6E8A-4147-A177-3AD203B41FA5}">
                      <a16:colId xmlns:a16="http://schemas.microsoft.com/office/drawing/2014/main" val="1735055989"/>
                    </a:ext>
                  </a:extLst>
                </a:gridCol>
                <a:gridCol w="2739266">
                  <a:extLst>
                    <a:ext uri="{9D8B030D-6E8A-4147-A177-3AD203B41FA5}">
                      <a16:colId xmlns:a16="http://schemas.microsoft.com/office/drawing/2014/main" val="1713138258"/>
                    </a:ext>
                  </a:extLst>
                </a:gridCol>
              </a:tblGrid>
              <a:tr h="1127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Approach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Grounded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Explainability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Paraphrase Handling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803077"/>
                  </a:ext>
                </a:extLst>
              </a:tr>
              <a:tr h="1127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Keyword Search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Returns exact 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Simple match algorithm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Brittle and misses synonyms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7490757"/>
                  </a:ext>
                </a:extLst>
              </a:tr>
              <a:tr h="1127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Generative LLM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High risk of hallucination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Opaque (Black box)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Excellent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391346"/>
                  </a:ext>
                </a:extLst>
              </a:tr>
              <a:tr h="11279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Semantic Retrieval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B050"/>
                          </a:solidFill>
                        </a:rPr>
                        <a:t>(Embeddings + vector index)</a:t>
                      </a:r>
                      <a:endParaRPr lang="en-US" sz="18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Returns exact evidence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Similarity score is inspectable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50"/>
                          </a:solidFill>
                        </a:rPr>
                        <a:t>Core strength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5860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69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&amp; work around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C34BA4-A735-2199-DBC1-A437F5E3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4</a:t>
            </a:fld>
            <a:endParaRPr lang="en-US"/>
          </a:p>
        </p:txBody>
      </p:sp>
      <p:sp>
        <p:nvSpPr>
          <p:cNvPr id="2" name="Rectangle: Rounded Corners 43">
            <a:extLst>
              <a:ext uri="{FF2B5EF4-FFF2-40B4-BE49-F238E27FC236}">
                <a16:creationId xmlns:a16="http://schemas.microsoft.com/office/drawing/2014/main" id="{DDADD1EF-8D09-9371-4059-317F20842626}"/>
              </a:ext>
            </a:extLst>
          </p:cNvPr>
          <p:cNvSpPr/>
          <p:nvPr/>
        </p:nvSpPr>
        <p:spPr>
          <a:xfrm>
            <a:off x="766256" y="1065637"/>
            <a:ext cx="10674375" cy="4896705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7662E-6904-6108-2C62-B9228AF39A94}"/>
              </a:ext>
            </a:extLst>
          </p:cNvPr>
          <p:cNvSpPr txBox="1"/>
          <p:nvPr/>
        </p:nvSpPr>
        <p:spPr>
          <a:xfrm>
            <a:off x="1424246" y="1461806"/>
            <a:ext cx="930011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Dataset source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Initially tried Hugging Face dataset loader for Cornell Movie Dialogs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It failed because the upstream Cornell download link was unavailable (cornell_movie_dialogs_corpus.zip)</a:t>
            </a:r>
          </a:p>
          <a:p>
            <a:endParaRPr lang="en-US" sz="1700" b="1" dirty="0"/>
          </a:p>
          <a:p>
            <a:r>
              <a:rPr lang="en-US" sz="1700" b="1" dirty="0"/>
              <a:t>Solution we used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Switched to </a:t>
            </a:r>
            <a:r>
              <a:rPr lang="en-US" sz="1700" b="1" dirty="0" err="1"/>
              <a:t>ConvoKit’s</a:t>
            </a:r>
            <a:r>
              <a:rPr lang="en-US" sz="1700" b="1" dirty="0"/>
              <a:t> movie-corpus</a:t>
            </a:r>
            <a:r>
              <a:rPr lang="en-US" sz="1700" dirty="0"/>
              <a:t> (stable hosted corpus)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Download + load via:</a:t>
            </a:r>
            <a:br>
              <a:rPr lang="en-US" sz="1700" dirty="0"/>
            </a:br>
            <a:r>
              <a:rPr lang="en-US" sz="1700" dirty="0"/>
              <a:t>Corpus(filename=download("movie-corpus"))</a:t>
            </a:r>
          </a:p>
          <a:p>
            <a:endParaRPr lang="en-US" sz="1700" b="1" dirty="0"/>
          </a:p>
          <a:p>
            <a:r>
              <a:rPr lang="en-US" sz="1700" b="1" dirty="0"/>
              <a:t>Second issue</a:t>
            </a:r>
            <a:endParaRPr lang="en-US" sz="1700" dirty="0"/>
          </a:p>
          <a:p>
            <a:r>
              <a:rPr lang="en-US" sz="1700" dirty="0"/>
              <a:t>Utterances didn’t initially include movie metadata (movie/year showed as None)</a:t>
            </a:r>
          </a:p>
          <a:p>
            <a:r>
              <a:rPr lang="en-US" sz="1700" b="1" dirty="0"/>
              <a:t>Fix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Extracted movie info from </a:t>
            </a:r>
            <a:r>
              <a:rPr lang="en-US" sz="1700" dirty="0" err="1"/>
              <a:t>conversation.meta</a:t>
            </a:r>
            <a:r>
              <a:rPr lang="en-US" sz="1700" dirty="0"/>
              <a:t> and merged onto utterances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Confirmed fields using inspection script (03a_inspect_convokit_fields.py)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36106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Workflow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998F6-F561-1067-7AA3-AD5CE9B3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5</a:t>
            </a:fld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0F1F1E2-9718-9C5A-D476-55AED6BC0187}"/>
              </a:ext>
            </a:extLst>
          </p:cNvPr>
          <p:cNvGrpSpPr/>
          <p:nvPr/>
        </p:nvGrpSpPr>
        <p:grpSpPr>
          <a:xfrm>
            <a:off x="483567" y="1430094"/>
            <a:ext cx="2579569" cy="1878357"/>
            <a:chOff x="3526037" y="3958226"/>
            <a:chExt cx="2145517" cy="1851036"/>
          </a:xfrm>
        </p:grpSpPr>
        <p:sp>
          <p:nvSpPr>
            <p:cNvPr id="46" name="Flowchart: Alternate Process 21">
              <a:extLst>
                <a:ext uri="{FF2B5EF4-FFF2-40B4-BE49-F238E27FC236}">
                  <a16:creationId xmlns:a16="http://schemas.microsoft.com/office/drawing/2014/main" id="{FE2ECC94-01ED-ECC5-16E6-F1968F0CAFB9}"/>
                </a:ext>
              </a:extLst>
            </p:cNvPr>
            <p:cNvSpPr/>
            <p:nvPr/>
          </p:nvSpPr>
          <p:spPr>
            <a:xfrm>
              <a:off x="3526037" y="3958226"/>
              <a:ext cx="2145517" cy="185103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lowchart: Alternate Process 8">
              <a:extLst>
                <a:ext uri="{FF2B5EF4-FFF2-40B4-BE49-F238E27FC236}">
                  <a16:creationId xmlns:a16="http://schemas.microsoft.com/office/drawing/2014/main" id="{E69FD1E5-EA3B-693D-38EE-1B64A499632D}"/>
                </a:ext>
              </a:extLst>
            </p:cNvPr>
            <p:cNvSpPr/>
            <p:nvPr/>
          </p:nvSpPr>
          <p:spPr>
            <a:xfrm>
              <a:off x="3627277" y="4088216"/>
              <a:ext cx="1943038" cy="159105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3181379-2961-B468-D51F-37A43D50FC6C}"/>
              </a:ext>
            </a:extLst>
          </p:cNvPr>
          <p:cNvGrpSpPr/>
          <p:nvPr/>
        </p:nvGrpSpPr>
        <p:grpSpPr>
          <a:xfrm>
            <a:off x="4806215" y="1430094"/>
            <a:ext cx="2579569" cy="1878357"/>
            <a:chOff x="3526037" y="3958226"/>
            <a:chExt cx="2145517" cy="1851036"/>
          </a:xfrm>
        </p:grpSpPr>
        <p:sp>
          <p:nvSpPr>
            <p:cNvPr id="49" name="Flowchart: Alternate Process 21">
              <a:extLst>
                <a:ext uri="{FF2B5EF4-FFF2-40B4-BE49-F238E27FC236}">
                  <a16:creationId xmlns:a16="http://schemas.microsoft.com/office/drawing/2014/main" id="{3C265620-F908-8E50-1A41-8B1DD74DCD22}"/>
                </a:ext>
              </a:extLst>
            </p:cNvPr>
            <p:cNvSpPr/>
            <p:nvPr/>
          </p:nvSpPr>
          <p:spPr>
            <a:xfrm>
              <a:off x="3526037" y="3958226"/>
              <a:ext cx="2145517" cy="185103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lowchart: Alternate Process 8">
              <a:extLst>
                <a:ext uri="{FF2B5EF4-FFF2-40B4-BE49-F238E27FC236}">
                  <a16:creationId xmlns:a16="http://schemas.microsoft.com/office/drawing/2014/main" id="{C1B844D4-6E60-97D9-A66F-17E085097EC0}"/>
                </a:ext>
              </a:extLst>
            </p:cNvPr>
            <p:cNvSpPr/>
            <p:nvPr/>
          </p:nvSpPr>
          <p:spPr>
            <a:xfrm>
              <a:off x="3627277" y="4088216"/>
              <a:ext cx="1943038" cy="159105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A3A30FA-85EE-A6BD-1DC8-293305740D96}"/>
              </a:ext>
            </a:extLst>
          </p:cNvPr>
          <p:cNvGrpSpPr/>
          <p:nvPr/>
        </p:nvGrpSpPr>
        <p:grpSpPr>
          <a:xfrm>
            <a:off x="8774231" y="1430094"/>
            <a:ext cx="2579569" cy="1878357"/>
            <a:chOff x="3526037" y="3958226"/>
            <a:chExt cx="2145517" cy="1851036"/>
          </a:xfrm>
        </p:grpSpPr>
        <p:sp>
          <p:nvSpPr>
            <p:cNvPr id="52" name="Flowchart: Alternate Process 21">
              <a:extLst>
                <a:ext uri="{FF2B5EF4-FFF2-40B4-BE49-F238E27FC236}">
                  <a16:creationId xmlns:a16="http://schemas.microsoft.com/office/drawing/2014/main" id="{6C0AB7B1-DB9A-4E12-FBFE-DC5205180385}"/>
                </a:ext>
              </a:extLst>
            </p:cNvPr>
            <p:cNvSpPr/>
            <p:nvPr/>
          </p:nvSpPr>
          <p:spPr>
            <a:xfrm>
              <a:off x="3526037" y="3958226"/>
              <a:ext cx="2145517" cy="185103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lowchart: Alternate Process 8">
              <a:extLst>
                <a:ext uri="{FF2B5EF4-FFF2-40B4-BE49-F238E27FC236}">
                  <a16:creationId xmlns:a16="http://schemas.microsoft.com/office/drawing/2014/main" id="{0C2A0649-D744-1B37-2BB3-459942B293B7}"/>
                </a:ext>
              </a:extLst>
            </p:cNvPr>
            <p:cNvSpPr/>
            <p:nvPr/>
          </p:nvSpPr>
          <p:spPr>
            <a:xfrm>
              <a:off x="3627277" y="4088216"/>
              <a:ext cx="1943038" cy="159105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C3B6059-06DE-9381-57AE-392A16DB0AA0}"/>
              </a:ext>
            </a:extLst>
          </p:cNvPr>
          <p:cNvGrpSpPr/>
          <p:nvPr/>
        </p:nvGrpSpPr>
        <p:grpSpPr>
          <a:xfrm>
            <a:off x="483567" y="4308015"/>
            <a:ext cx="2579569" cy="1878357"/>
            <a:chOff x="3526037" y="3958226"/>
            <a:chExt cx="2145517" cy="1851036"/>
          </a:xfrm>
        </p:grpSpPr>
        <p:sp>
          <p:nvSpPr>
            <p:cNvPr id="55" name="Flowchart: Alternate Process 21">
              <a:extLst>
                <a:ext uri="{FF2B5EF4-FFF2-40B4-BE49-F238E27FC236}">
                  <a16:creationId xmlns:a16="http://schemas.microsoft.com/office/drawing/2014/main" id="{DB37FA2C-06EE-E212-698C-74C7017AB810}"/>
                </a:ext>
              </a:extLst>
            </p:cNvPr>
            <p:cNvSpPr/>
            <p:nvPr/>
          </p:nvSpPr>
          <p:spPr>
            <a:xfrm>
              <a:off x="3526037" y="3958226"/>
              <a:ext cx="2145517" cy="185103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lowchart: Alternate Process 8">
              <a:extLst>
                <a:ext uri="{FF2B5EF4-FFF2-40B4-BE49-F238E27FC236}">
                  <a16:creationId xmlns:a16="http://schemas.microsoft.com/office/drawing/2014/main" id="{4164B041-9BB5-746B-6980-9DD849AB496A}"/>
                </a:ext>
              </a:extLst>
            </p:cNvPr>
            <p:cNvSpPr/>
            <p:nvPr/>
          </p:nvSpPr>
          <p:spPr>
            <a:xfrm>
              <a:off x="3627277" y="4088216"/>
              <a:ext cx="1943038" cy="159105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D19A0FC-E930-6E9C-742D-A13B96962C67}"/>
              </a:ext>
            </a:extLst>
          </p:cNvPr>
          <p:cNvGrpSpPr/>
          <p:nvPr/>
        </p:nvGrpSpPr>
        <p:grpSpPr>
          <a:xfrm>
            <a:off x="4806215" y="4356818"/>
            <a:ext cx="2579569" cy="1878357"/>
            <a:chOff x="3526037" y="3958226"/>
            <a:chExt cx="2145517" cy="1851036"/>
          </a:xfrm>
        </p:grpSpPr>
        <p:sp>
          <p:nvSpPr>
            <p:cNvPr id="58" name="Flowchart: Alternate Process 21">
              <a:extLst>
                <a:ext uri="{FF2B5EF4-FFF2-40B4-BE49-F238E27FC236}">
                  <a16:creationId xmlns:a16="http://schemas.microsoft.com/office/drawing/2014/main" id="{7C6E2996-54DD-DCEB-89C9-E8C72B656810}"/>
                </a:ext>
              </a:extLst>
            </p:cNvPr>
            <p:cNvSpPr/>
            <p:nvPr/>
          </p:nvSpPr>
          <p:spPr>
            <a:xfrm>
              <a:off x="3526037" y="3958226"/>
              <a:ext cx="2145517" cy="185103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lowchart: Alternate Process 8">
              <a:extLst>
                <a:ext uri="{FF2B5EF4-FFF2-40B4-BE49-F238E27FC236}">
                  <a16:creationId xmlns:a16="http://schemas.microsoft.com/office/drawing/2014/main" id="{A22A9BA9-56B1-ADD8-16C0-34B37BC3B919}"/>
                </a:ext>
              </a:extLst>
            </p:cNvPr>
            <p:cNvSpPr/>
            <p:nvPr/>
          </p:nvSpPr>
          <p:spPr>
            <a:xfrm>
              <a:off x="3627277" y="4088216"/>
              <a:ext cx="1943038" cy="159105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685460D-F6F2-6196-A6E7-DE2858A1B136}"/>
              </a:ext>
            </a:extLst>
          </p:cNvPr>
          <p:cNvGrpSpPr/>
          <p:nvPr/>
        </p:nvGrpSpPr>
        <p:grpSpPr>
          <a:xfrm>
            <a:off x="8774230" y="4356818"/>
            <a:ext cx="2579569" cy="1878357"/>
            <a:chOff x="3526037" y="3958226"/>
            <a:chExt cx="2145517" cy="1851036"/>
          </a:xfrm>
        </p:grpSpPr>
        <p:sp>
          <p:nvSpPr>
            <p:cNvPr id="61" name="Flowchart: Alternate Process 21">
              <a:extLst>
                <a:ext uri="{FF2B5EF4-FFF2-40B4-BE49-F238E27FC236}">
                  <a16:creationId xmlns:a16="http://schemas.microsoft.com/office/drawing/2014/main" id="{7C9376BF-269D-780B-F882-AC68DC65E2E0}"/>
                </a:ext>
              </a:extLst>
            </p:cNvPr>
            <p:cNvSpPr/>
            <p:nvPr/>
          </p:nvSpPr>
          <p:spPr>
            <a:xfrm>
              <a:off x="3526037" y="3958226"/>
              <a:ext cx="2145517" cy="185103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lowchart: Alternate Process 8">
              <a:extLst>
                <a:ext uri="{FF2B5EF4-FFF2-40B4-BE49-F238E27FC236}">
                  <a16:creationId xmlns:a16="http://schemas.microsoft.com/office/drawing/2014/main" id="{D645F4A0-4B24-142E-5EE4-BC41AE91391A}"/>
                </a:ext>
              </a:extLst>
            </p:cNvPr>
            <p:cNvSpPr/>
            <p:nvPr/>
          </p:nvSpPr>
          <p:spPr>
            <a:xfrm>
              <a:off x="3627277" y="4088216"/>
              <a:ext cx="1943038" cy="1591056"/>
            </a:xfrm>
            <a:prstGeom prst="flowChartAlternateProcess">
              <a:avLst/>
            </a:prstGeom>
            <a:solidFill>
              <a:srgbClr val="0082C8">
                <a:alpha val="20000"/>
              </a:srgb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Arrow: Right 13">
            <a:extLst>
              <a:ext uri="{FF2B5EF4-FFF2-40B4-BE49-F238E27FC236}">
                <a16:creationId xmlns:a16="http://schemas.microsoft.com/office/drawing/2014/main" id="{60B9D342-5400-7CBC-C031-00AC3F5F1CE0}"/>
              </a:ext>
            </a:extLst>
          </p:cNvPr>
          <p:cNvSpPr/>
          <p:nvPr/>
        </p:nvSpPr>
        <p:spPr>
          <a:xfrm>
            <a:off x="3557269" y="2174264"/>
            <a:ext cx="754813" cy="390015"/>
          </a:xfrm>
          <a:prstGeom prst="rightArrow">
            <a:avLst/>
          </a:prstGeom>
          <a:solidFill>
            <a:srgbClr val="0082C8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13">
            <a:extLst>
              <a:ext uri="{FF2B5EF4-FFF2-40B4-BE49-F238E27FC236}">
                <a16:creationId xmlns:a16="http://schemas.microsoft.com/office/drawing/2014/main" id="{168F8277-A0D1-1E5F-7EF5-86D108564E34}"/>
              </a:ext>
            </a:extLst>
          </p:cNvPr>
          <p:cNvSpPr/>
          <p:nvPr/>
        </p:nvSpPr>
        <p:spPr>
          <a:xfrm>
            <a:off x="7702601" y="2174264"/>
            <a:ext cx="754813" cy="390015"/>
          </a:xfrm>
          <a:prstGeom prst="rightArrow">
            <a:avLst/>
          </a:prstGeom>
          <a:solidFill>
            <a:srgbClr val="0082C8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13">
            <a:extLst>
              <a:ext uri="{FF2B5EF4-FFF2-40B4-BE49-F238E27FC236}">
                <a16:creationId xmlns:a16="http://schemas.microsoft.com/office/drawing/2014/main" id="{C4019D16-3495-5D68-83E8-88FD2495DB22}"/>
              </a:ext>
            </a:extLst>
          </p:cNvPr>
          <p:cNvSpPr/>
          <p:nvPr/>
        </p:nvSpPr>
        <p:spPr>
          <a:xfrm rot="10800000">
            <a:off x="3557269" y="5052188"/>
            <a:ext cx="754812" cy="390009"/>
          </a:xfrm>
          <a:prstGeom prst="rightArrow">
            <a:avLst/>
          </a:prstGeom>
          <a:solidFill>
            <a:srgbClr val="0082C8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row: Right 13">
            <a:extLst>
              <a:ext uri="{FF2B5EF4-FFF2-40B4-BE49-F238E27FC236}">
                <a16:creationId xmlns:a16="http://schemas.microsoft.com/office/drawing/2014/main" id="{F60BFFDE-C4A2-2187-E220-5C29B7B4FFD6}"/>
              </a:ext>
            </a:extLst>
          </p:cNvPr>
          <p:cNvSpPr/>
          <p:nvPr/>
        </p:nvSpPr>
        <p:spPr>
          <a:xfrm rot="10800000">
            <a:off x="7702601" y="5052189"/>
            <a:ext cx="754812" cy="390009"/>
          </a:xfrm>
          <a:prstGeom prst="rightArrow">
            <a:avLst/>
          </a:prstGeom>
          <a:solidFill>
            <a:srgbClr val="0082C8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Right 15">
            <a:extLst>
              <a:ext uri="{FF2B5EF4-FFF2-40B4-BE49-F238E27FC236}">
                <a16:creationId xmlns:a16="http://schemas.microsoft.com/office/drawing/2014/main" id="{1DD9A6A7-2019-7C33-D46A-E7BC48718F4E}"/>
              </a:ext>
            </a:extLst>
          </p:cNvPr>
          <p:cNvSpPr/>
          <p:nvPr/>
        </p:nvSpPr>
        <p:spPr>
          <a:xfrm rot="5400000">
            <a:off x="9695691" y="3625732"/>
            <a:ext cx="772080" cy="401339"/>
          </a:xfrm>
          <a:prstGeom prst="rightArrow">
            <a:avLst/>
          </a:prstGeom>
          <a:solidFill>
            <a:srgbClr val="0082C8">
              <a:alpha val="30000"/>
            </a:srgb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56E821-96E8-BDE3-A573-4292F1902619}"/>
              </a:ext>
            </a:extLst>
          </p:cNvPr>
          <p:cNvSpPr txBox="1"/>
          <p:nvPr/>
        </p:nvSpPr>
        <p:spPr>
          <a:xfrm>
            <a:off x="745559" y="1907606"/>
            <a:ext cx="2044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Load corpus</a:t>
            </a:r>
            <a:r>
              <a:rPr lang="en-US" dirty="0"/>
              <a:t> (</a:t>
            </a:r>
            <a:r>
              <a:rPr lang="en-US" dirty="0" err="1"/>
              <a:t>ConvoKit</a:t>
            </a:r>
            <a:r>
              <a:rPr lang="en-US" dirty="0"/>
              <a:t> movie-corpus)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FD32D4-5496-7E00-2A42-5BE7DD18B071}"/>
              </a:ext>
            </a:extLst>
          </p:cNvPr>
          <p:cNvSpPr txBox="1"/>
          <p:nvPr/>
        </p:nvSpPr>
        <p:spPr>
          <a:xfrm>
            <a:off x="5073533" y="1921907"/>
            <a:ext cx="2044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Flatten data</a:t>
            </a:r>
            <a:r>
              <a:rPr lang="en-US" dirty="0"/>
              <a:t> → one row per utterance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C798D9-4A0C-A3CC-3A04-596D27DC7342}"/>
              </a:ext>
            </a:extLst>
          </p:cNvPr>
          <p:cNvSpPr txBox="1"/>
          <p:nvPr/>
        </p:nvSpPr>
        <p:spPr>
          <a:xfrm>
            <a:off x="9059265" y="1764448"/>
            <a:ext cx="204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Embed text</a:t>
            </a:r>
            <a:r>
              <a:rPr lang="en-US" dirty="0"/>
              <a:t> using sentence-transformers/all-MiniLM-L6-v2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88DABF-2A23-E75A-E7C1-C94A6A7798CB}"/>
              </a:ext>
            </a:extLst>
          </p:cNvPr>
          <p:cNvSpPr txBox="1"/>
          <p:nvPr/>
        </p:nvSpPr>
        <p:spPr>
          <a:xfrm>
            <a:off x="745558" y="5058574"/>
            <a:ext cx="2044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Streamlit</a:t>
            </a:r>
            <a:r>
              <a:rPr lang="en-US" b="1" dirty="0"/>
              <a:t> Search UI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A8B824-B1F4-E01A-1A07-AB9E8188FF98}"/>
              </a:ext>
            </a:extLst>
          </p:cNvPr>
          <p:cNvSpPr txBox="1"/>
          <p:nvPr/>
        </p:nvSpPr>
        <p:spPr>
          <a:xfrm>
            <a:off x="5073533" y="5058574"/>
            <a:ext cx="2044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Save artifacts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D990FEB-0873-2944-AEB2-74A66DAF585F}"/>
              </a:ext>
            </a:extLst>
          </p:cNvPr>
          <p:cNvSpPr txBox="1"/>
          <p:nvPr/>
        </p:nvSpPr>
        <p:spPr>
          <a:xfrm>
            <a:off x="9041548" y="4834331"/>
            <a:ext cx="2044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Build FAISS index</a:t>
            </a:r>
            <a:r>
              <a:rPr lang="en-US" dirty="0"/>
              <a:t> using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101854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 (Input → Output)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7F1FA9-6098-3542-669D-7C66AEC1A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: Rounded Corners 43">
            <a:extLst>
              <a:ext uri="{FF2B5EF4-FFF2-40B4-BE49-F238E27FC236}">
                <a16:creationId xmlns:a16="http://schemas.microsoft.com/office/drawing/2014/main" id="{2D8A8C43-A8C1-0948-E504-CF513FB0A248}"/>
              </a:ext>
            </a:extLst>
          </p:cNvPr>
          <p:cNvSpPr/>
          <p:nvPr/>
        </p:nvSpPr>
        <p:spPr>
          <a:xfrm>
            <a:off x="483566" y="1110733"/>
            <a:ext cx="4930789" cy="2519158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8" name="Rectangle: Rounded Corners 43">
            <a:extLst>
              <a:ext uri="{FF2B5EF4-FFF2-40B4-BE49-F238E27FC236}">
                <a16:creationId xmlns:a16="http://schemas.microsoft.com/office/drawing/2014/main" id="{FD654EEE-05A0-9542-4CEA-6062B083AD51}"/>
              </a:ext>
            </a:extLst>
          </p:cNvPr>
          <p:cNvSpPr/>
          <p:nvPr/>
        </p:nvSpPr>
        <p:spPr>
          <a:xfrm>
            <a:off x="6145205" y="1110733"/>
            <a:ext cx="4930789" cy="2519158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5C6704-5FB6-3F60-3AA8-7466A59B3873}"/>
              </a:ext>
            </a:extLst>
          </p:cNvPr>
          <p:cNvSpPr txBox="1"/>
          <p:nvPr/>
        </p:nvSpPr>
        <p:spPr>
          <a:xfrm>
            <a:off x="886691" y="1374371"/>
            <a:ext cx="42006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/>
              <a:t>User input:</a:t>
            </a:r>
          </a:p>
          <a:p>
            <a:pPr algn="ctr"/>
            <a:endParaRPr lang="en-US" sz="1700" dirty="0"/>
          </a:p>
          <a:p>
            <a:pPr algn="ctr"/>
            <a:r>
              <a:rPr lang="en-US" sz="1700" dirty="0"/>
              <a:t>Natural language query (example):</a:t>
            </a:r>
          </a:p>
          <a:p>
            <a:pPr algn="ctr"/>
            <a:br>
              <a:rPr lang="en-US" sz="1700" dirty="0"/>
            </a:br>
            <a:r>
              <a:rPr lang="en-US" sz="1700" dirty="0"/>
              <a:t>“who says we’re running out of time”</a:t>
            </a:r>
          </a:p>
          <a:p>
            <a:pPr algn="ctr"/>
            <a:r>
              <a:rPr lang="en-US" sz="1700" dirty="0"/>
              <a:t>“</a:t>
            </a:r>
            <a:r>
              <a:rPr lang="en-US" dirty="0"/>
              <a:t>dialog about artificial intelligence</a:t>
            </a:r>
            <a:r>
              <a:rPr lang="en-US" sz="1700" dirty="0"/>
              <a:t>”</a:t>
            </a:r>
          </a:p>
          <a:p>
            <a:pPr algn="ctr"/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44A1D-EC68-7A1E-6F94-87DB2A754852}"/>
              </a:ext>
            </a:extLst>
          </p:cNvPr>
          <p:cNvSpPr txBox="1"/>
          <p:nvPr/>
        </p:nvSpPr>
        <p:spPr>
          <a:xfrm>
            <a:off x="6510250" y="1201790"/>
            <a:ext cx="420069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/>
              <a:t>Output (grounded)</a:t>
            </a:r>
            <a:br>
              <a:rPr lang="en-US" sz="1700" dirty="0"/>
            </a:br>
            <a:endParaRPr lang="en-US" sz="17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Movie title + year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Character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Conversation ID + Utterance ID (traceability)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Exact dialog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700" dirty="0"/>
              <a:t>Similarity score</a:t>
            </a:r>
          </a:p>
        </p:txBody>
      </p:sp>
      <p:sp>
        <p:nvSpPr>
          <p:cNvPr id="13" name="Rectangle: Rounded Corners 43">
            <a:extLst>
              <a:ext uri="{FF2B5EF4-FFF2-40B4-BE49-F238E27FC236}">
                <a16:creationId xmlns:a16="http://schemas.microsoft.com/office/drawing/2014/main" id="{06BC3590-AF90-CDB6-7747-EAA81EA09295}"/>
              </a:ext>
            </a:extLst>
          </p:cNvPr>
          <p:cNvSpPr/>
          <p:nvPr/>
        </p:nvSpPr>
        <p:spPr>
          <a:xfrm>
            <a:off x="483565" y="3967541"/>
            <a:ext cx="10957065" cy="2519158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75664-E9DF-5FE3-0A73-5DABD961137E}"/>
              </a:ext>
            </a:extLst>
          </p:cNvPr>
          <p:cNvSpPr txBox="1"/>
          <p:nvPr/>
        </p:nvSpPr>
        <p:spPr>
          <a:xfrm>
            <a:off x="947651" y="4532806"/>
            <a:ext cx="9776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Why this is strong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fabricated answers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Users can verify evidence immediately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Easy to debug and improve (thresholds, reranking later)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6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 Built &amp; What Worked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EDBA22-490A-101F-2939-50744079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7</a:t>
            </a:fld>
            <a:endParaRPr lang="en-US"/>
          </a:p>
        </p:txBody>
      </p:sp>
      <p:sp>
        <p:nvSpPr>
          <p:cNvPr id="14" name="Rectangle: Rounded Corners 43">
            <a:extLst>
              <a:ext uri="{FF2B5EF4-FFF2-40B4-BE49-F238E27FC236}">
                <a16:creationId xmlns:a16="http://schemas.microsoft.com/office/drawing/2014/main" id="{6EB5EECB-4214-9CE6-1DEC-72E18FFB9D14}"/>
              </a:ext>
            </a:extLst>
          </p:cNvPr>
          <p:cNvSpPr/>
          <p:nvPr/>
        </p:nvSpPr>
        <p:spPr>
          <a:xfrm>
            <a:off x="838200" y="1160606"/>
            <a:ext cx="4402519" cy="5195735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6" name="Rectangle: Rounded Corners 43">
            <a:extLst>
              <a:ext uri="{FF2B5EF4-FFF2-40B4-BE49-F238E27FC236}">
                <a16:creationId xmlns:a16="http://schemas.microsoft.com/office/drawing/2014/main" id="{CAEA5DC2-4589-2DFF-58DB-4390AE9E6603}"/>
              </a:ext>
            </a:extLst>
          </p:cNvPr>
          <p:cNvSpPr/>
          <p:nvPr/>
        </p:nvSpPr>
        <p:spPr>
          <a:xfrm>
            <a:off x="6951281" y="1160606"/>
            <a:ext cx="4402519" cy="5195735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320C8-F2AB-1190-58ED-50A290FAB521}"/>
              </a:ext>
            </a:extLst>
          </p:cNvPr>
          <p:cNvSpPr txBox="1"/>
          <p:nvPr/>
        </p:nvSpPr>
        <p:spPr>
          <a:xfrm>
            <a:off x="1127532" y="1366162"/>
            <a:ext cx="382385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Core scripts (</a:t>
            </a:r>
            <a:r>
              <a:rPr lang="en-US" sz="1700" b="1" dirty="0" err="1"/>
              <a:t>src</a:t>
            </a:r>
            <a:r>
              <a:rPr lang="en-US" sz="1700" b="1" dirty="0"/>
              <a:t>/)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02_download_with_convokit.py</a:t>
            </a:r>
            <a:br>
              <a:rPr lang="en-US" sz="1700" dirty="0"/>
            </a:br>
            <a:r>
              <a:rPr lang="en-US" sz="1700" dirty="0"/>
              <a:t>→ downloads corpus and validates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03_build_utterances_table.py</a:t>
            </a:r>
            <a:br>
              <a:rPr lang="en-US" sz="1700" dirty="0"/>
            </a:br>
            <a:r>
              <a:rPr lang="en-US" sz="1700" dirty="0"/>
              <a:t>→ builds </a:t>
            </a:r>
            <a:r>
              <a:rPr lang="en-US" sz="1700" dirty="0" err="1"/>
              <a:t>utterances.parquet</a:t>
            </a:r>
            <a:r>
              <a:rPr lang="en-US" sz="1700" dirty="0"/>
              <a:t> by merging utterances + conversation metadata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04_build_vector_index.py</a:t>
            </a:r>
            <a:br>
              <a:rPr lang="en-US" sz="1700" dirty="0"/>
            </a:br>
            <a:r>
              <a:rPr lang="en-US" sz="1700" dirty="0"/>
              <a:t>→ builds embeddings + FAISS index + meta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05_search_test.py</a:t>
            </a:r>
            <a:br>
              <a:rPr lang="en-US" sz="1700" dirty="0"/>
            </a:br>
            <a:r>
              <a:rPr lang="en-US" sz="1700" dirty="0"/>
              <a:t>→ sanity test retrieval quality from terminal</a:t>
            </a:r>
          </a:p>
          <a:p>
            <a:r>
              <a:rPr lang="en-US" sz="1700" b="1" dirty="0"/>
              <a:t>App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app.py</a:t>
            </a:r>
            <a:br>
              <a:rPr lang="en-US" sz="1700" dirty="0"/>
            </a:br>
            <a:r>
              <a:rPr lang="en-US" sz="1700" dirty="0"/>
              <a:t>→ </a:t>
            </a:r>
            <a:r>
              <a:rPr lang="en-US" sz="1700" dirty="0" err="1"/>
              <a:t>Streamlit</a:t>
            </a:r>
            <a:r>
              <a:rPr lang="en-US" sz="1700" dirty="0"/>
              <a:t> UI + search function + evidence display</a:t>
            </a:r>
          </a:p>
          <a:p>
            <a:endParaRPr lang="en-US" sz="1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82CC04-A857-BA32-EE78-FC6B794C7F3C}"/>
              </a:ext>
            </a:extLst>
          </p:cNvPr>
          <p:cNvSpPr txBox="1"/>
          <p:nvPr/>
        </p:nvSpPr>
        <p:spPr>
          <a:xfrm>
            <a:off x="7240613" y="1366162"/>
            <a:ext cx="382385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Experimentation: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HF dataset loader → failed due to missing upstream zip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Runtime index build on </a:t>
            </a:r>
            <a:r>
              <a:rPr lang="en-US" dirty="0" err="1"/>
              <a:t>Streamlit</a:t>
            </a:r>
            <a:r>
              <a:rPr lang="en-US" dirty="0"/>
              <a:t> Cloud → failed due to memory/runtime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production approach: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Build index locally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Upload index bundle to Hugging Face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App downloads bundle once (</a:t>
            </a:r>
            <a:r>
              <a:rPr lang="en-US" dirty="0" err="1"/>
              <a:t>ensure_index_present</a:t>
            </a:r>
            <a:r>
              <a:rPr lang="en-US" dirty="0"/>
              <a:t>())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666176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Tradeoffs &amp; Future Improvements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6CD55-2AD4-A84D-332D-DFF7F2ED0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: Rounded Corners 43">
            <a:extLst>
              <a:ext uri="{FF2B5EF4-FFF2-40B4-BE49-F238E27FC236}">
                <a16:creationId xmlns:a16="http://schemas.microsoft.com/office/drawing/2014/main" id="{C2B6656F-B68B-AF19-3538-8D4384069FB3}"/>
              </a:ext>
            </a:extLst>
          </p:cNvPr>
          <p:cNvSpPr/>
          <p:nvPr/>
        </p:nvSpPr>
        <p:spPr>
          <a:xfrm>
            <a:off x="483566" y="1110733"/>
            <a:ext cx="4930789" cy="2519158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4" name="Rectangle: Rounded Corners 43">
            <a:extLst>
              <a:ext uri="{FF2B5EF4-FFF2-40B4-BE49-F238E27FC236}">
                <a16:creationId xmlns:a16="http://schemas.microsoft.com/office/drawing/2014/main" id="{7F2D55A5-C7EB-09F5-270B-A47E5E5756F8}"/>
              </a:ext>
            </a:extLst>
          </p:cNvPr>
          <p:cNvSpPr/>
          <p:nvPr/>
        </p:nvSpPr>
        <p:spPr>
          <a:xfrm>
            <a:off x="6145205" y="1110733"/>
            <a:ext cx="4930789" cy="2519158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: Rounded Corners 43">
            <a:extLst>
              <a:ext uri="{FF2B5EF4-FFF2-40B4-BE49-F238E27FC236}">
                <a16:creationId xmlns:a16="http://schemas.microsoft.com/office/drawing/2014/main" id="{9BC7DCE6-BB49-9E70-8964-04D0C00AFA2A}"/>
              </a:ext>
            </a:extLst>
          </p:cNvPr>
          <p:cNvSpPr/>
          <p:nvPr/>
        </p:nvSpPr>
        <p:spPr>
          <a:xfrm>
            <a:off x="483565" y="3967541"/>
            <a:ext cx="10957065" cy="2519158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35000"/>
              </a:spcAft>
            </a:pPr>
            <a:endParaRPr lang="en-US" sz="1600">
              <a:solidFill>
                <a:schemeClr val="tx1"/>
              </a:solidFill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E1995-F0DF-ACAC-8222-5791C6739314}"/>
              </a:ext>
            </a:extLst>
          </p:cNvPr>
          <p:cNvSpPr txBox="1"/>
          <p:nvPr/>
        </p:nvSpPr>
        <p:spPr>
          <a:xfrm>
            <a:off x="886691" y="1374371"/>
            <a:ext cx="420069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/>
              <a:t>Current strengths:</a:t>
            </a:r>
          </a:p>
          <a:p>
            <a:pPr algn="ctr"/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Fast, explainable, grounded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Works well on paraphrase-type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Simple architecture, easy to extend</a:t>
            </a:r>
          </a:p>
          <a:p>
            <a:pPr algn="ctr"/>
            <a:endParaRPr lang="en-US" sz="1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894DCE-4103-59AF-C13E-7C091AD21BAF}"/>
              </a:ext>
            </a:extLst>
          </p:cNvPr>
          <p:cNvSpPr txBox="1"/>
          <p:nvPr/>
        </p:nvSpPr>
        <p:spPr>
          <a:xfrm>
            <a:off x="6510250" y="1212874"/>
            <a:ext cx="420069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/>
              <a:t>Current limitation</a:t>
            </a:r>
            <a:br>
              <a:rPr lang="en-US" sz="1700" dirty="0"/>
            </a:br>
            <a:endParaRPr lang="en-US" sz="1700" dirty="0"/>
          </a:p>
          <a:p>
            <a:pPr algn="ctr"/>
            <a:r>
              <a:rPr lang="en-US" sz="1700" dirty="0"/>
              <a:t>Semantic similarity sometimes returns “about the concept” not “satisfies intent”</a:t>
            </a:r>
            <a:br>
              <a:rPr lang="en-US" sz="1700" dirty="0"/>
            </a:br>
            <a:endParaRPr lang="en-US" sz="1700" dirty="0"/>
          </a:p>
          <a:p>
            <a:pPr algn="ctr"/>
            <a:r>
              <a:rPr lang="en-US" sz="1700" dirty="0"/>
              <a:t>Example: query about apologizing reluctantly → returns line about “never apologizes” because it’s still in the apology concept space.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E71D26-7CA7-CD8C-3060-6C610FC0F7E5}"/>
              </a:ext>
            </a:extLst>
          </p:cNvPr>
          <p:cNvSpPr txBox="1"/>
          <p:nvPr/>
        </p:nvSpPr>
        <p:spPr>
          <a:xfrm>
            <a:off x="1073743" y="4171103"/>
            <a:ext cx="97767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Future improvements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Hybrid scoring</a:t>
            </a:r>
            <a:r>
              <a:rPr lang="en-US" dirty="0"/>
              <a:t>: semantic + keyword signals (keyword hits)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Reranking</a:t>
            </a:r>
            <a:r>
              <a:rPr lang="en-US" dirty="0"/>
              <a:t>: cross-encoder </a:t>
            </a:r>
            <a:r>
              <a:rPr lang="en-US" dirty="0" err="1"/>
              <a:t>reranker</a:t>
            </a:r>
            <a:r>
              <a:rPr lang="en-US" dirty="0"/>
              <a:t> or lightweight rule penalties (negation terms)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UI</a:t>
            </a:r>
            <a:r>
              <a:rPr lang="en-US" dirty="0"/>
              <a:t>: show character + movie posters, filter by year/genre</a:t>
            </a:r>
          </a:p>
          <a:p>
            <a:pPr algn="ctr"/>
            <a:endParaRPr lang="en-US" dirty="0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B3E56BF6-A480-2556-302D-575CB672A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scoring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semantic + keyword signals (BM25/keyword hits)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352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Machine Learning with DataCamp | Faculty of Applied Physics and Mathematics  at the Gdańsk University of Technology">
            <a:extLst>
              <a:ext uri="{FF2B5EF4-FFF2-40B4-BE49-F238E27FC236}">
                <a16:creationId xmlns:a16="http://schemas.microsoft.com/office/drawing/2014/main" id="{20458F56-FE86-4F18-ABC3-766FD67BF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1" t="31579" r="19064" b="31842"/>
          <a:stretch/>
        </p:blipFill>
        <p:spPr bwMode="auto">
          <a:xfrm>
            <a:off x="10724358" y="55537"/>
            <a:ext cx="1432548" cy="56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615A6-5D37-9425-E106-EE877FD27CBE}"/>
              </a:ext>
            </a:extLst>
          </p:cNvPr>
          <p:cNvCxnSpPr>
            <a:cxnSpLocks/>
          </p:cNvCxnSpPr>
          <p:nvPr/>
        </p:nvCxnSpPr>
        <p:spPr>
          <a:xfrm>
            <a:off x="483567" y="671628"/>
            <a:ext cx="10957065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bject 8">
            <a:extLst>
              <a:ext uri="{FF2B5EF4-FFF2-40B4-BE49-F238E27FC236}">
                <a16:creationId xmlns:a16="http://schemas.microsoft.com/office/drawing/2014/main" id="{0E73F32B-2139-89DF-0460-804644A278E0}"/>
              </a:ext>
            </a:extLst>
          </p:cNvPr>
          <p:cNvSpPr txBox="1">
            <a:spLocks/>
          </p:cNvSpPr>
          <p:nvPr/>
        </p:nvSpPr>
        <p:spPr>
          <a:xfrm>
            <a:off x="483567" y="158284"/>
            <a:ext cx="9849485" cy="462947"/>
          </a:xfrm>
          <a:prstGeom prst="rect">
            <a:avLst/>
          </a:prstGeom>
        </p:spPr>
        <p:txBody>
          <a:bodyPr vert="horz" wrap="square" lIns="0" tIns="3175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250"/>
              </a:spcBef>
            </a:pP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 + Deployment + QR Code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0A8B08-4FD6-BBED-523C-F61F15A2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CEBA-52A4-944B-9C0C-8A19F0A871CB}" type="slidenum">
              <a:rPr lang="en-US" smtClean="0"/>
              <a:t>9</a:t>
            </a:fld>
            <a:endParaRPr lang="en-US"/>
          </a:p>
        </p:txBody>
      </p:sp>
      <p:sp>
        <p:nvSpPr>
          <p:cNvPr id="2" name="Rectangle: Rounded Corners 43">
            <a:extLst>
              <a:ext uri="{FF2B5EF4-FFF2-40B4-BE49-F238E27FC236}">
                <a16:creationId xmlns:a16="http://schemas.microsoft.com/office/drawing/2014/main" id="{28EFF49C-F354-886C-8886-98E747CDD110}"/>
              </a:ext>
            </a:extLst>
          </p:cNvPr>
          <p:cNvSpPr/>
          <p:nvPr/>
        </p:nvSpPr>
        <p:spPr>
          <a:xfrm>
            <a:off x="766256" y="1065637"/>
            <a:ext cx="10674375" cy="4896705"/>
          </a:xfrm>
          <a:prstGeom prst="roundRect">
            <a:avLst/>
          </a:prstGeom>
          <a:solidFill>
            <a:srgbClr val="0082C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37B17-72C5-53FA-AA18-28ADD8FD24CD}"/>
              </a:ext>
            </a:extLst>
          </p:cNvPr>
          <p:cNvSpPr txBox="1"/>
          <p:nvPr/>
        </p:nvSpPr>
        <p:spPr>
          <a:xfrm>
            <a:off x="1424246" y="1461806"/>
            <a:ext cx="930011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Deployed </a:t>
            </a:r>
            <a:r>
              <a:rPr lang="en-US" sz="1700" b="1" dirty="0" err="1"/>
              <a:t>Streamlit</a:t>
            </a:r>
            <a:r>
              <a:rPr lang="en-US" sz="1700" b="1" dirty="0"/>
              <a:t> app:</a:t>
            </a:r>
            <a:endParaRPr lang="en-US" sz="1700" dirty="0"/>
          </a:p>
          <a:p>
            <a:r>
              <a:rPr lang="en-US" sz="1700" dirty="0"/>
              <a:t>Link: https://movie-dialog-chatbot.streamlit.app/</a:t>
            </a:r>
          </a:p>
          <a:p>
            <a:endParaRPr lang="en-US" sz="1700" b="1" dirty="0"/>
          </a:p>
          <a:p>
            <a:r>
              <a:rPr lang="en-US" sz="1700" b="1" dirty="0"/>
              <a:t>Deployment approach</a:t>
            </a: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App downloads index bundle from Hugging Face dataset repo:</a:t>
            </a:r>
            <a:br>
              <a:rPr lang="en-US" sz="1700" dirty="0"/>
            </a:br>
            <a:r>
              <a:rPr lang="en-US" sz="1700" dirty="0" err="1"/>
              <a:t>NMSudarsan</a:t>
            </a:r>
            <a:r>
              <a:rPr lang="en-US" sz="1700" dirty="0"/>
              <a:t>/movie-dialog-index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Avoids building 450MB index on </a:t>
            </a:r>
            <a:r>
              <a:rPr lang="en-US" sz="1700" dirty="0" err="1"/>
              <a:t>Streamlit</a:t>
            </a:r>
            <a:endParaRPr lang="en-US" sz="1700" dirty="0"/>
          </a:p>
          <a:p>
            <a:endParaRPr lang="en-US" sz="1700" b="1" dirty="0"/>
          </a:p>
          <a:p>
            <a:r>
              <a:rPr lang="en-US" sz="1700" b="1" dirty="0"/>
              <a:t>QR Code:</a:t>
            </a:r>
            <a:br>
              <a:rPr lang="en-US" sz="1700" dirty="0"/>
            </a:br>
            <a:endParaRPr lang="en-US" sz="1700" dirty="0"/>
          </a:p>
        </p:txBody>
      </p:sp>
      <p:pic>
        <p:nvPicPr>
          <p:cNvPr id="6" name="Picture 5" descr="A qr code on a black and white background&#10;&#10;AI-generated content may be incorrect.">
            <a:extLst>
              <a:ext uri="{FF2B5EF4-FFF2-40B4-BE49-F238E27FC236}">
                <a16:creationId xmlns:a16="http://schemas.microsoft.com/office/drawing/2014/main" id="{668E16AC-28E4-190B-6516-C55731805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901" y="3619284"/>
            <a:ext cx="2226197" cy="22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094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664</Words>
  <Application>Microsoft Office PowerPoint</Application>
  <PresentationFormat>Widescreen</PresentationFormat>
  <Paragraphs>128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Abishek Rajesh</dc:creator>
  <cp:lastModifiedBy>Abishek Rajesh</cp:lastModifiedBy>
  <cp:revision>5</cp:revision>
  <dcterms:created xsi:type="dcterms:W3CDTF">2025-12-22T03:23:32Z</dcterms:created>
  <dcterms:modified xsi:type="dcterms:W3CDTF">2025-12-22T19:07:32Z</dcterms:modified>
</cp:coreProperties>
</file>